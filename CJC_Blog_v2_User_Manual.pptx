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1097280"/>
            <a:ext cx="137160" cy="466344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EA5E9"/>
                </a:solidFill>
                <a:latin typeface="Malgun Gothic"/>
              </a:defRPr>
            </a:pPr>
            <a:r>
              <a:t>CJC COOPERATIVE BLOG SEO AUTOMATION v2.0</a:t>
            </a:r>
          </a:p>
          <a:p>
            <a:pPr>
              <a:spcBef>
                <a:spcPts val="1600"/>
              </a:spcBef>
              <a:defRPr sz="3600" b="1">
                <a:solidFill>
                  <a:srgbClr val="FFFFFF"/>
                </a:solidFill>
                <a:latin typeface="Malgun Gothic"/>
              </a:defRPr>
            </a:pPr>
            <a:r>
              <a:t>씨제이씨협동조합 블로그 SEO 포스팅</a:t>
            </a:r>
            <a:br/>
            <a:r>
              <a:t>자동화 시스템 사용자 매뉴얼</a:t>
            </a:r>
          </a:p>
          <a:p>
            <a:pPr>
              <a:spcBef>
                <a:spcPts val="2000"/>
              </a:spcBef>
              <a:defRPr sz="1600">
                <a:solidFill>
                  <a:srgbClr val="CBD5E1"/>
                </a:solidFill>
                <a:latin typeface="Malgun Gothic"/>
              </a:defRPr>
            </a:pPr>
            <a:r>
              <a:t>트렌드 뉴스 크롤링부터 LLM AI 원고 작성, 의료법 컴플라이언스 검수,</a:t>
            </a:r>
            <a:br/>
            <a:r>
              <a:t>네이버 스마트에디터 ONE 자동 발행까지의 통합 실무 가이드</a:t>
            </a:r>
          </a:p>
          <a:p>
            <a:pPr>
              <a:spcBef>
                <a:spcPts val="3000"/>
              </a:spcBef>
              <a:defRPr sz="1200">
                <a:solidFill>
                  <a:srgbClr val="64748B"/>
                </a:solidFill>
                <a:latin typeface="Malgun Gothic"/>
              </a:defRPr>
            </a:pPr>
            <a:r>
              <a:t>발행처: 씨제이씨협동조합 (CJC Cooperative)  |  작성일: 2026년 7월  |  버전: v2.0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Malgun Gothic"/>
              </a:defRPr>
            </a:pPr>
            <a:r>
              <a:t>씨제이씨협동조합 블로그 SEO 자동화 시스템 V2.0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목차 (Table of Contents)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t>01. 시스템 개요 및 핵심 가치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가발/탈모/뷰티 분야 블로그 SEO 자동화 시스템 소개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3172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t>02. 시스템 전체 아키텍처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Streamlit UI, LLM Router, Crawler, DB, Naver Publisher 구성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9184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t>03. [Tab 1] 트렌드 뉴스 탐색 &amp; SEO 원고 생성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국내/해외 키워드 탐색 및 1클릭 AI 원고 생성 절차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25196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34340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t>04. [Tab 1] 원고 미리보기, 편집 및 이미지 구성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렌더링 미리보기, Base64 분리 에디터, AI 교안 반영 및 이미지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1208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530352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t>05. [Tab 1] 네이버 스마트에디터 ONE 전송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Anti-Bot 회피, OS 클립보드 바인딩 및 DOM Range Selection 포커스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146304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t>06. [Tab 2] 브랜드 소식 &amp; 맞춤 글 작성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개요(Outline) 입력 기반 1,500자 브랜드 공식 포스팅 확장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33172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63640" y="242316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t>07. [Tab 3] 종합 대시보드 &amp; 이미지 자산 관리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포스팅 실적 모니터링, CSV 엑셀 다운로드 및 3D 실사 라이브러리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329184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338328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t>08. [Tab 4] 시스템 &amp; AI 모델 설정 (Admin)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Gemini/ChatGPT/Claude 모델 및 API Key, 페르소나, 팩트 DB 관리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4251960"/>
            <a:ext cx="5212080" cy="868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63640" y="4343400"/>
            <a:ext cx="493776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t>09. 트러블슈팅 및 자주 묻는 질문 (FAQ)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API Key 미설정 대응, 네이버 로그인 세션 및 오류 해결 방법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Malgun Gothic"/>
              </a:defRPr>
            </a:pPr>
            <a:r>
              <a:t>씨제이씨협동조합 블로그 SEO 자동화 시스템 V2.0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1. 시스템 개요 및 4대 핵심 가치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00584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087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EA5E9"/>
                </a:solidFill>
                <a:latin typeface="Malgun Gothic"/>
              </a:defRPr>
            </a:pPr>
            <a:r>
              <a:t>🎯 시스템 개발 목적 및 비전</a:t>
            </a:r>
          </a:p>
          <a:p>
            <a:pPr>
              <a:spcBef>
                <a:spcPts val="400"/>
              </a:spcBef>
              <a:defRPr sz="1200">
                <a:solidFill>
                  <a:srgbClr val="FFFFFF"/>
                </a:solidFill>
                <a:latin typeface="Malgun Gothic"/>
              </a:defRPr>
            </a:pPr>
            <a:r>
              <a:t>씨제이씨협동조합(CJC)의 맞춤가발 및 탈모 케어 기술력을 최신 뷰티/트렌드 뉴스 이슈와 결합하여, 네이버 상위 노출에 최적화된 고품질 포스팅을 자동으로 생성하고 네이버 스마트에디터 ONE에 반자동으로 안전하게 등록하는 종합 SEO 파이프라인입니다.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5285232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743200"/>
            <a:ext cx="48280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Malgun Gothic"/>
              </a:defRPr>
            </a:pPr>
            <a:r>
              <a:t>🔍 검색 노출 최적화 (SEO)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SEO 화이트리스트 키워드 자연스러운 분산 배치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본문 하단 100% 원문 기사 출처 클릭 링크 자동 보장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&lt;h1&gt;/&lt;h2&gt;/&lt;h3&gt; 구조화된 HTML 서식 변환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560320"/>
            <a:ext cx="5285232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2743200"/>
            <a:ext cx="48280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Malgun Gothic"/>
              </a:defRPr>
            </a:pPr>
            <a:r>
              <a:t>⚖️ 의료법 컴플라이언스 자동화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과대광고 및 의료법 위반 금기어 자동 감지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'탈모 완치' ➔ '두피 케어 보완' 우회 단어 자동 치환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법적 리스크 0% 실시간 Sanitization 파이프라인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480560"/>
            <a:ext cx="5285232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663440"/>
            <a:ext cx="48280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Malgun Gothic"/>
              </a:defRPr>
            </a:pPr>
            <a:r>
              <a:t>🏢 CJC Fact DB PPL 인용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ATUM 3D 스캐너 10분 측정이 가능한 기술력 인용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7-10일 쾌속 제작 배송 및 ESG 친환경 공정 피력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KOTITI 독성 물질 안심 인증 키노피스 브랜드 홍보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480560"/>
            <a:ext cx="5285232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4663440"/>
            <a:ext cx="4828032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Malgun Gothic"/>
              </a:defRPr>
            </a:pPr>
            <a:r>
              <a:t>🤖 Anti-Bot 회피 &amp; 1:1 사진 삽입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Playwright 사용자 쿠키 세션 재사용으로 CAPTCHA 우회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OS 클립보드 바인딩 (CF_HTML 포맷) 기술 적용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JS DOM Range Selection 기반 100% 마커 포커스 첨부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Malgun Gothic"/>
              </a:defRPr>
            </a:pPr>
            <a:r>
              <a:t>씨제이씨협동조합 블로그 SEO 자동화 시스템 V2.0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2. 시스템 전체 아키텍처 및 모듈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057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54480"/>
            <a:ext cx="1783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333EA"/>
                </a:solidFill>
                <a:latin typeface="Malgun Gothic"/>
              </a:defRPr>
            </a:pPr>
            <a:r>
              <a:t>UI &amp; Controller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app.py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Streamlit 기반 통합 사용자 웹 인터페이스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4개 메인 탭 및 원고 렌더링/에디터 동기화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st.session_state 위젯 수명주기 완벽 제어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1" y="1371600"/>
            <a:ext cx="2057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44951" y="1554480"/>
            <a:ext cx="1783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333EA"/>
                </a:solidFill>
                <a:latin typeface="Malgun Gothic"/>
              </a:defRPr>
            </a:pPr>
            <a:r>
              <a:t>LLM Engine Router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llm_router.py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Gemini 2.5 Flash / ChatGPT-4o / Claude 3.5 선택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프롬프트 템플릿 A/B 분기 및 CJC Fact DB 주입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Sanitization 컴플라이언스 &amp; 출처 링크 보장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4064" y="1371600"/>
            <a:ext cx="2057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21224" y="1554480"/>
            <a:ext cx="1783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333EA"/>
                </a:solidFill>
                <a:latin typeface="Malgun Gothic"/>
              </a:defRPr>
            </a:pPr>
            <a:r>
              <a:t>Trend Crawler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crawler.py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Google News RSS 및 Naver News 실시간 수집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국내/해외 기사 구분 및 구글 번역 API 연동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URL Hash 기반 SQLite O(1) 중복 수집 방지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60336" y="1371600"/>
            <a:ext cx="2057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97496" y="1554480"/>
            <a:ext cx="1783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333EA"/>
                </a:solidFill>
                <a:latin typeface="Malgun Gothic"/>
              </a:defRPr>
            </a:pPr>
            <a:r>
              <a:t>Database Manager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db_manager.py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SQLite (cjc_blog.db) 원고 생성 이력 아카이빙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3D 실사 이미지 라이브러리 메타데이터 관리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중복 크롤링 방지 테이블 및 메트릭 집계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436608" y="1371600"/>
            <a:ext cx="205740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573768" y="1554480"/>
            <a:ext cx="17830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333EA"/>
                </a:solidFill>
                <a:latin typeface="Malgun Gothic"/>
              </a:defRPr>
            </a:pPr>
            <a:r>
              <a:t>Naver Publisher</a:t>
            </a:r>
          </a:p>
          <a:p>
            <a:pPr>
              <a:spcBef>
                <a:spcPts val="400"/>
              </a:spcBef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paste_worker.py</a:t>
            </a:r>
            <a:br/>
            <a:r>
              <a:t>naver_publisher.py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Playwright 워커 프로세스 분리 실행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OS 클립보드 (Win32/macOS) CF_HTML 바인딩</a:t>
            </a:r>
          </a:p>
          <a:p>
            <a:pPr>
              <a:spcBef>
                <a:spcPts val="4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✔ JS DOM Range Selection 마커 핀포인트 포커스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Malgun Gothic"/>
              </a:defRPr>
            </a:pPr>
            <a:r>
              <a:t>씨제이씨협동조합 블로그 SEO 자동화 시스템 V2.0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3. [Tab 1] 트렌드 뉴스 탐색 및 SEO 원고 작성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STEP 1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Malgun Gothic"/>
              </a:defRPr>
            </a:pPr>
            <a:r>
              <a:t>키워드 및 출처 선택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• 가발, 탈모, 맞춤가발, 두피케어 등 탐색 키워드 선택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• 국내 뉴스 / 해외 뉴스 출처 및 수집 건수 설정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1188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STEP 2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Malgun Gothic"/>
              </a:defRPr>
            </a:pPr>
            <a:r>
              <a:t>트렌드 뉴스 탐색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• [🔍 최신 트렌드 뉴스 탐색] 버튼 클릭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• Google/Naver News RSS 수집 및 중복 기사 자동 필터링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STEP 3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Malgun Gothic"/>
              </a:defRPr>
            </a:pPr>
            <a:r>
              <a:t>기사 요약 &amp; 번역 확인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• 수집된 기사 요약본 및 해외 뉴스의 한글 번역본 확인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• [원문 기사 링크 보기]를 통해 원본 뉴스 검증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463040"/>
            <a:ext cx="2560320" cy="4754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06840" y="1645920"/>
            <a:ext cx="21945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Malgun Gothic"/>
              </a:defRPr>
            </a:pPr>
            <a:r>
              <a:t>STEP 4</a:t>
            </a:r>
          </a:p>
          <a:p>
            <a:pPr>
              <a:spcBef>
                <a:spcPts val="400"/>
              </a:spcBef>
              <a:defRPr sz="1400" b="1">
                <a:solidFill>
                  <a:srgbClr val="1E293B"/>
                </a:solidFill>
                <a:latin typeface="Malgun Gothic"/>
              </a:defRPr>
            </a:pPr>
            <a:r>
              <a:t>1클릭 SEO 원고 작성</a:t>
            </a:r>
          </a:p>
          <a:p>
            <a:pPr>
              <a:spcBef>
                <a:spcPts val="800"/>
              </a:spcBef>
            </a:pP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• [✨ 이 기사로 SEO 원고 작성] 클릭</a:t>
            </a:r>
          </a:p>
          <a:p>
            <a:pPr>
              <a:spcBef>
                <a:spcPts val="6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• LLM이 CJC 팩트 DB PPL 녹여 1,500자 포스팅 쾌속 생성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Malgun Gothic"/>
              </a:defRPr>
            </a:pPr>
            <a:r>
              <a:t>씨제이씨협동조합 블로그 SEO 자동화 시스템 V2.0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4. [Tab 1] 원고 렌더링, 편집 및 이미지 구성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08760"/>
            <a:ext cx="1018001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Malgun Gothic"/>
              </a:defRPr>
            </a:pPr>
            <a:r>
              <a:t>Sub-Tab 1 | 👁️ 렌더링 미리보기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✔ 실제 네이버 블로그에 발행되었을 때의 완성된 시각적 서식을 실시간 확인합니다.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✔ &lt;h1&gt; 제목, &lt;h2&gt; 소제목, &lt;p&gt; 단락 서식 및 [[CJC_IMAGE_X]] 실사 이미지가 시각화됩니다.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063240"/>
            <a:ext cx="1072865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200400"/>
            <a:ext cx="1018001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Malgun Gothic"/>
              </a:defRPr>
            </a:pPr>
            <a:r>
              <a:t>Sub-Tab 2 | ✏️ 원고 수정 및 AI 재검토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✔ 생성된 원고의 제목과 본문 텍스트를 자유롭게 편집합니다.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✔ Base64 이미지 코드는 사람 눈에 익숙한 로컬 파일 경로(uploaded_images/sample.png)로 정제되어 쾌속 편집을 지원합니다.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✔ [🔍 AI 원고 검수 실행] 후 [💡 1클릭 추천 교안 적용]으로 원고 품질을 대폭 향상시킵니다.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754880"/>
            <a:ext cx="10728655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10180015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Malgun Gothic"/>
              </a:defRPr>
            </a:pPr>
            <a:r>
              <a:t>Sub-Tab 3 | 🖼️ 실사 이미지 라이브러리 &amp; 배치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✔ CJC 3D 스캐너, 매장, 맞춤가발 실사 이미지를 본문 문맥에 맞게 구성합니다.</a:t>
            </a:r>
          </a:p>
          <a:p>
            <a:pPr>
              <a:spcBef>
                <a:spcPts val="4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✔ 이미지 순서 변경(위/아래), 삭제, 신규 이미지 교체 및 개별 이미지 업로드를 1클릭으로 제어합니다.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Malgun Gothic"/>
              </a:defRPr>
            </a:pPr>
            <a:r>
              <a:t>씨제이씨협동조합 블로그 SEO 자동화 시스템 V2.0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5. [Tab 1] 네이버 스마트에디터 ONE 전송 메커니즘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1018001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333EA"/>
                </a:solidFill>
                <a:latin typeface="Malgun Gothic"/>
              </a:defRPr>
            </a:pPr>
            <a:r>
              <a:t>🚀 [네이버 에디터로 전송 (반자동)] 3단계 자동화 동작 메커니즘</a:t>
            </a:r>
          </a:p>
          <a:p>
            <a:pPr>
              <a:spcBef>
                <a:spcPts val="800"/>
              </a:spcBef>
            </a:pPr>
          </a:p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1단계: Persistent Browser &amp; 세션 자동 재사용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undetected-chromedriver 또는 Playwright persistent context를 활용하여 사용자의 기존 네이버 로그인 세션 쿠키를 자동 재사용합니다. CAPTCHA 방지 알고리즘 및 0.1~0.3초의 랜덤 휴먼 디레이(human_delay)를 적용합니다.</a:t>
            </a:r>
          </a:p>
          <a:p>
            <a:pPr>
              <a:spcBef>
                <a:spcPts val="800"/>
              </a:spcBef>
            </a:pPr>
          </a:p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2단계: OS 클립보드 (CF_HTML 포맷) 바인딩 및 본문 전송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네이버 SmartEditor ONE(.se-main-container)은 send_keys 서식을 파괴하므로, Windows/macOS의 클립보드 API(clipboard_manager.py)를 통해 서식이 유지되는 CF_HTML 바인딩 후 Cmd+V / Ctrl+V로 본문을 일괄 전송합니다.</a:t>
            </a:r>
          </a:p>
          <a:p>
            <a:pPr>
              <a:spcBef>
                <a:spcPts val="800"/>
              </a:spcBef>
            </a:pPr>
          </a:p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3단계: JS DOM Range Selection 핀포인트 마커 포커스 &amp; 이미지 1:1 첨부 (핵심)</a:t>
            </a:r>
          </a:p>
          <a:p>
            <a:pPr>
              <a:spcBef>
                <a:spcPts val="2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본문 내 [📷 PHOTO_LOCATION_MARKER_X] 마커 텍스트 노드를 JS TreeWalker로 탐색하고, window.getSelection() &amp; document.createRange()로 커서 포커스를 해당 단락 위치에 100% 강력 고정합니다. 마커 지움과 동시에 toolbar 사진 업로드를 실행하여 사진이 최상단으로 쏠리지 않고 미리보기 위치에 1:1 정밀 삽입됩니다.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Malgun Gothic"/>
              </a:defRPr>
            </a:pPr>
            <a:r>
              <a:t>씨제이씨협동조합 블로그 SEO 자동화 시스템 V2.0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6. [Tab 2] 브랜드 소식 &amp; 맞춤 글 작성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212080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8463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4F46E5"/>
                </a:solidFill>
                <a:latin typeface="Malgun Gothic"/>
              </a:defRPr>
            </a:pPr>
            <a:r>
              <a:t>🎯 기능 정의 및 활용 목적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Malgun Gothic"/>
              </a:defRPr>
            </a:pPr>
            <a:r>
              <a:t>• 외부 뉴스 없이, 조합의 공식 공지사항, 프로모션, 신제품 출시, 창업 교육 소식을 브랜드 포스팅으로 완성할 때 사용합니다.</a:t>
            </a:r>
          </a:p>
          <a:p>
            <a:pPr>
              <a:spcBef>
                <a:spcPts val="800"/>
              </a:spcBef>
              <a:defRPr sz="1150">
                <a:solidFill>
                  <a:srgbClr val="1E293B"/>
                </a:solidFill>
                <a:latin typeface="Malgun Gothic"/>
              </a:defRPr>
            </a:pPr>
            <a:r>
              <a:t>• 실무자가 거칠고 짧은 단어 메모 형태의 개요(Outline)만 입력해도, AI 브랜드 디렉터가 따뜻하고 논리적인 1,500자 포스팅으로 풍성하게 확장합니다.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42255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487649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333EA"/>
                </a:solidFill>
                <a:latin typeface="Malgun Gothic"/>
              </a:defRPr>
            </a:pPr>
            <a:r>
              <a:t>📝 사용 단계별 절차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✔ 1. 글 카테고리 선택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브랜드 소식 / 이벤트·프로모션 / 가발창업·교육 / 제품 소개 중 선택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✔ 2. 메모 형태 개요 입력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전달하고자 하는 핵심 일정, 할인 혜택, 이벤트 내용을 거친 메모 형태로 자유롭게 입력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✔ 3. 1클릭 원고 확장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[🪄 1,500자 브랜드 포스팅 완성하기] 버튼 클릭</a:t>
            </a:r>
          </a:p>
          <a:p>
            <a:pPr>
              <a:spcBef>
                <a:spcPts val="600"/>
              </a:spcBef>
              <a:defRPr sz="1200" b="1">
                <a:solidFill>
                  <a:srgbClr val="1E293B"/>
                </a:solidFill>
                <a:latin typeface="Malgun Gothic"/>
              </a:defRPr>
            </a:pPr>
            <a:r>
              <a:t>✔ 4. 검수 및 발행</a:t>
            </a:r>
          </a:p>
          <a:p>
            <a:pPr>
              <a:spcBef>
                <a:spcPts val="200"/>
              </a:spcBef>
              <a:defRPr sz="1100">
                <a:solidFill>
                  <a:srgbClr val="64748B"/>
                </a:solidFill>
                <a:latin typeface="Malgun Gothic"/>
              </a:defRPr>
            </a:pPr>
            <a:r>
              <a:t>   우측 미리보기 창에서 원고 검수 후 네이버 에디터로 반자동 전송 및 저장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Malgun Gothic"/>
              </a:defRPr>
            </a:pPr>
            <a:r>
              <a:t>씨제이씨협동조합 블로그 SEO 자동화 시스템 V2.0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7. [Tab 3] 종합 대시보드 &amp; 이미지 자산 관리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25603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63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총 원고 생성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Malgun Gothic"/>
              </a:defRPr>
            </a:pPr>
            <a:r>
              <a:t>전체 원고 생성 누적 건수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371600"/>
            <a:ext cx="25603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566160" y="1463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네이버 전송 완료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Malgun Gothic"/>
              </a:defRPr>
            </a:pPr>
            <a:r>
              <a:t>네이버 에디터 전송 성공 건수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25603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463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등록 실사 이미지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Malgun Gothic"/>
              </a:defRPr>
            </a:pPr>
            <a:r>
              <a:t>라이브러리 등록 이미지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371600"/>
            <a:ext cx="2560320" cy="1097280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0" y="1463040"/>
            <a:ext cx="2286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Malgun Gothic"/>
              </a:defRPr>
            </a:pPr>
            <a:r>
              <a:t>수집 뉴스 트렌드</a:t>
            </a:r>
          </a:p>
          <a:p>
            <a:pPr>
              <a:spcBef>
                <a:spcPts val="400"/>
              </a:spcBef>
              <a:defRPr sz="1000">
                <a:solidFill>
                  <a:srgbClr val="FFFFFF"/>
                </a:solidFill>
                <a:latin typeface="Malgun Gothic"/>
              </a:defRPr>
            </a:pPr>
            <a:r>
              <a:t>아카이빙 완료된 트렌드 뉴스 건수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834640"/>
            <a:ext cx="48463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4F46E5"/>
                </a:solidFill>
                <a:latin typeface="Malgun Gothic"/>
              </a:defRPr>
            </a:pPr>
            <a:r>
              <a:t>📊 데이터 관리 및 엑셀 다운로드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포스팅 이력 테이블: 생성된 포스팅 유형, 제목, 생성 일시 및 발행 상태 실시간 조회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📥 엑셀/CSV 다운로드: [📥 포스팅 전체 이력 엑셀/CSV 다운로드] 버튼으로 지정한 폴더에 파일 저장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🧹 DB 초기화: [🧹 포스팅 로그 및 DB 기록 초기화]로 테스트 이력 1클력 초기화 지원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2651760"/>
            <a:ext cx="5242255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834640"/>
            <a:ext cx="48764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333EA"/>
                </a:solidFill>
                <a:latin typeface="Malgun Gothic"/>
              </a:defRPr>
            </a:pPr>
            <a:r>
              <a:t>🖼️ 3D 실사 이미지 라이브러리 관리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이미지 자산 등록: ATUM 3D 스캐너, 키노피스 맞춤가발, 매장 전경 등 신규 실사 이미지 업로드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메타데이터 설정: 카테고리(스캐너, 맞춤가발, 매장, 케어 등) 및 묘사 설명 등록</a:t>
            </a:r>
          </a:p>
          <a:p>
            <a:pPr>
              <a:spcBef>
                <a:spcPts val="800"/>
              </a:spcBef>
              <a:defRPr sz="1100">
                <a:solidFill>
                  <a:srgbClr val="1E293B"/>
                </a:solidFill>
                <a:latin typeface="Malgun Gothic"/>
              </a:defRPr>
            </a:pPr>
            <a:r>
              <a:t>• 자동 문맥 매칭: AI 원고 작성 시 이미지 라이브러리 설명과 소제목 문맥을 비교하여 [[CJC_IMAGE_X]]로 최적 배치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Malgun Gothic"/>
              </a:defRPr>
            </a:pPr>
            <a:r>
              <a:t>씨제이씨협동조합 블로그 SEO 자동화 시스템 V2.0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8. [Tab 4] 시스템 및 AI 모델 설정 (Admin Settings)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1. 메인 AI 엔진 및 API Key 관리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ChatGPT, Claude, Gemini 중 사용할 AI 공급사 선택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모델명(gpt-4o, claude-3-5-sonnet, gemini-2.5-flash) 및 API Key 입력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[🧪 연결 테스트] 버튼으로 1클릭 유효성 검증 + 보안 .env 파일 자동 지원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6888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2. 브랜드 페르소나 및 Sample 가이드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AI 에디터의 어조와 역할(system_persona) 및 톤앤매너 설정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Few-Shot 샘플 데이터를 통해 CJC 고유의 브랜드 문체 유지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3. CJC 팩트 DB 관리 (Fact DB)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ATUM 3D 두상 측정기(10분 스캔), 7-10일 배송, KOTITI 인증 등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원고 생성 시 반드시 인용해야 하는 조합 핵심 기술 팩트 통합 관리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8056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4. SEO 키워드 &amp; 의료법 치환 맵 관리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SEO 상위 노출 필수 화이트리스트 키워드 등록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의료법 금기어 및 과대광고 치환 맵(예: '탈모 완치' -&gt; '두피 케어 보완') 관리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8655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4F46E5"/>
                </a:solidFill>
                <a:latin typeface="Malgun Gothic"/>
              </a:defRPr>
            </a:pPr>
            <a:r>
              <a:t>5. 네이버 블로그 ID 관리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• 자동 글쓰기 대상 네이버 블로그 아이디 설정 (예: cjc_coop)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4F46E5"/>
                </a:solidFill>
                <a:latin typeface="Malgun Gothic"/>
              </a:defRPr>
            </a:pPr>
            <a:r>
              <a:t>씨제이씨협동조합 블로그 SEO 자동화 시스템 V2.0</a:t>
            </a:r>
          </a:p>
          <a:p>
            <a:pPr>
              <a:spcBef>
                <a:spcPts val="400"/>
              </a:spcBef>
              <a:defRPr sz="2200" b="1">
                <a:solidFill>
                  <a:srgbClr val="1E293B"/>
                </a:solidFill>
                <a:latin typeface="Malgun Gothic"/>
              </a:defRPr>
            </a:pPr>
            <a:r>
              <a:t>9. 트러블슈팅 및 자주 묻는 질문 (FAQ)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4F46E5"/>
                </a:solidFill>
                <a:latin typeface="Malgun Gothic"/>
              </a:defRPr>
            </a:pPr>
            <a:r>
              <a:t>Q1. 'LLM API KEY가 설정되지 않았습니다' 오류가 나타납니다.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원인: 선택하신 메인 AI 모델(Gemini / ChatGPT / Claude)의 API 키가 비어있거나 올바르지 않습니다.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해결: 상단 [⚙️ 관리자 설정] 탭으로 이동하여 해당 공급사의 API Key를 입력하고 [💾 설정 저장]을 클릭하거나, 프로젝트 폴더에 .env 파일(GEMINI_API_KEY=your_key)을 생성해 주세요.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7286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4F46E5"/>
                </a:solidFill>
                <a:latin typeface="Malgun Gothic"/>
              </a:defRPr>
            </a:pPr>
            <a:r>
              <a:t>Q2. 네이버 에디터 전송 클릭 시 로그인 화면(nidlogin)이 뜹니다.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원인: 기존 네이버 로그인 브라우저 쿠키 세션이 만료되었습니다.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해결: 자동으로 열린 브라우저 창에서 네이버 로그인을 1회 완료하시면, 시스템이 세션 쿠키를 저장하여 다음부터는 로그인 없이 자동 진행됩니다.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840480"/>
            <a:ext cx="107286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4F46E5"/>
                </a:solidFill>
                <a:latin typeface="Malgun Gothic"/>
              </a:defRPr>
            </a:pPr>
            <a:r>
              <a:t>Q3. 사진이 미리보기 위치에 올라가지 않고 상단에 쏠립니다.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원인: 이전 버전의 정규표현식 줄바꿈 매칭 또는 커서 포커스 유실 문제였습니다.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해결: v2.0에서는 JS DOM Range Selection API로 [📷 PHOTO_LOCATION_MARKER_X] 단락 위치에 커서를 100% 강력 고정한 뒤 업로드하므로 1:1 정밀 삽입됩니다.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74920"/>
            <a:ext cx="10728655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66360"/>
            <a:ext cx="10362895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 b="1">
                <a:solidFill>
                  <a:srgbClr val="4F46E5"/>
                </a:solidFill>
                <a:latin typeface="Malgun Gothic"/>
              </a:defRPr>
            </a:pPr>
            <a:r>
              <a:t>Q4. 수집된 트렌드 뉴스가 중복해서 수집되거나 원고 작성이 막힙니다.</a:t>
            </a:r>
          </a:p>
          <a:p>
            <a:pPr>
              <a:spcBef>
                <a:spcPts val="200"/>
              </a:spcBef>
              <a:defRPr sz="1050">
                <a:solidFill>
                  <a:srgbClr val="1E293B"/>
                </a:solidFill>
                <a:latin typeface="Malgun Gothic"/>
              </a:defRPr>
            </a:pPr>
            <a:r>
              <a:t>해결: 데이터베이스(SQLite3)에 수집 URL Hash가 O(1)로 저장되어 자동 중복 수집을 방지합니다. 테스트 용도로 중복 수집이 필요한 경우 기사 검색창의 '🧪 중복허용(테스트용)'을 체크하세요.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